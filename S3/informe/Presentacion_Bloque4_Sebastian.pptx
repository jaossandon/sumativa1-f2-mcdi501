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Muchas gracias, César. Para dar inicio al Bloque 4, abordaremos la validación de estabilidad mediante remuestreo bootstrap, el análisis comparativo del impacto de la imputación sobre el modelo final, y cerraremos con la síntesis acumulativa del proyecto y las recomendaciones estratégicas para la toma de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Muchas gracias, César. Para garantizar que nuestro modelo logístico final no dependa exclusivamente de supuestos asintóticos teóricos que suelen fallar en muestras con agrupamiento o asimetría —como detectamos en la Sumativa 2 mediante Jackknife—, aplicamos un remuestreo bootstrap no paramétrico con 1.000 réplicas por conglomerados institucionales. Al contrastar los intervalos tradicionales de Wald con los empíricos de Bootstrap al 95 %, confirmamos una alta estabilidad paramétrica: los coeficientes estructurales mantienen intervalos estrechos y sin cruzar el valor nulo de Odds Ratio igual a 1. Sin embargo, los intervalos se ensanchan entre 3,5 y 9,2 veces respecto a Wald, lo que prueba empíricamente que la dependencia institucional domina ampliamente la verdadera variabilidad.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pregunta central de esta fase era: ¿cambia la decisión del negocio según cómo tratamos el 12,75 % de datos no observados? Evaluamos los modelos sobre una prueba común de 27.508 titulados con atraso estrictamente observado. Los resultados son categóricos: Primero, la imputación simple por mediana es inadmisible: invierte el signo de 3 jornadas y sobrestima la prevalencia en más de 3 puntos porcentuales. Segundo, al analizar nuestra imputación por regresión, identificamos un fenómeno crucial de la literatura estadística: una imputación no congeniada. Al haber omitido la jornada en el modelo lineal, se asignó una tasa plana de atraso a todas las modalidades, distorsionando los Odds Ratios de Diurna y Semipresencial. Para resolverlo, implementamos una Imputación Múltiple Congeniada con 20 réplicas y reglas de Rubin, reduciendo la distorsión media al 7,3 %, recuperando la calibración y alcanzando un AUC de 0,662 y exactitud de 65,3 %.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concluir la exposición grupal, queremos destacar la progresión metodológica integral de este proyecto: En S1, el análisis exploratorio evitó descartar erróneamente los valores atípicos y caracterizó la asimetría del rezago. En S2, los métodos computacionales de remuestreo demostraron que la brecha de género se explicaba por el área de estudio y que existía una fuerte dependencia institucional. Y en esta S3, integramos ambos antecedentes para imputar con fundamento teórico, seleccionar covariables y construir un clasificador logístico robusto. En términos de negocio y política educativa, nuestras dos recomendaciones clave son: Primero, diseñar Sistemas de Alerta Temprana focalizados en facultades críticas de Derecho e Ingeniería. Y segundo, flexibilizar los plazos rígidos de gratuidad, considerando que el atraso severo es un fenómeno estructural del sistema universitario chileno. Muchas gracias por su atención y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Todo el pipeline computacional, los datos limpios y los notebooks ejecutados de las tres etapas están alojados de forma reproducible en nuestro repositorio oficial de GitHub. Agradecemos su atención y quedamos a su entera disposición para la ronda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315200" cy="5029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93C5FD"/>
                </a:solidFill>
              </a:defRPr>
            </a:pPr>
            <a:r>
              <a:t>EVALUACIÓN SUMATIVA 3: FASE 4 · CIERRE DEL PROYECTO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Modelamiento Predictivo Integrado del Atraso Académico en Educación Superior</a:t>
            </a:r>
          </a:p>
          <a:p>
            <a:pPr>
              <a:spcBef>
                <a:spcPts val="1200"/>
              </a:spcBef>
              <a:defRPr sz="1600">
                <a:solidFill>
                  <a:srgbClr val="E2E8F0"/>
                </a:solidFill>
              </a:defRPr>
            </a:pPr>
            <a:r>
              <a:t>Bloque 4: Estabilidad Bootstrap, Impacto de la Imputación y Recomendaciones Estratégicas</a:t>
            </a:r>
          </a:p>
          <a:p>
            <a:pPr>
              <a:spcBef>
                <a:spcPts val="2400"/>
              </a:spcBef>
              <a:defRPr sz="1200">
                <a:solidFill>
                  <a:srgbClr val="94A3B8"/>
                </a:solidFill>
              </a:defRPr>
            </a:pPr>
            <a:r>
              <a:t>• Expositor Bloque 4: Sebastián Cajales Cid</a:t>
            </a:r>
            <a:br/>
            <a:r>
              <a:t>• Grupo 6: Fernanda Ovalle, Sebastián Cajales, César Lorca, Jorge Álvarez</a:t>
            </a:r>
            <a:br/>
            <a:r>
              <a:t>• Docente: Jean Paul Maidana González</a:t>
            </a:r>
            <a:br/>
            <a:r>
              <a:t>• Magíster en Ciencia de Datos e IA — Universidad Andrés Bello (Octubre 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645920"/>
            <a:ext cx="301752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ab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0" y="1874519"/>
            <a:ext cx="2560320" cy="21527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</a:defRPr>
            </a:pPr>
            <a:r>
              <a:t>BLOQUE 4 · ROBUSTEZ INFERENCIAL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Estabilidad Bootstrap (B=1.000) y Dependencia Institucional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Inferencia Bootstrap por Conglomerados</a:t>
            </a:r>
          </a:p>
          <a:p>
            <a:pPr>
              <a:spcBef>
                <a:spcPts val="800"/>
              </a:spcBef>
              <a:defRPr b="1" sz="1100">
                <a:solidFill>
                  <a:srgbClr val="1E40AF"/>
                </a:solidFill>
              </a:defRPr>
            </a:pPr>
            <a:r>
              <a:t>• B = 1.000 réplicas no paramétricas: </a:t>
            </a:r>
            <a:r>
              <a:rPr b="0">
                <a:solidFill>
                  <a:srgbClr val="0F172A"/>
                </a:solidFill>
              </a:rPr>
              <a:t>Re-entrenamiento completo del modelo logístico M2 por clúster de institución educativa.</a:t>
            </a:r>
          </a:p>
          <a:p>
            <a:pPr>
              <a:spcBef>
                <a:spcPts val="800"/>
              </a:spcBef>
              <a:defRPr b="1" sz="1100">
                <a:solidFill>
                  <a:srgbClr val="1E40AF"/>
                </a:solidFill>
              </a:defRPr>
            </a:pPr>
            <a:r>
              <a:t>• Estabilidad de efectos estructurales: </a:t>
            </a:r>
            <a:r>
              <a:rPr b="0">
                <a:solidFill>
                  <a:srgbClr val="0F172A"/>
                </a:solidFill>
              </a:rPr>
              <a:t>Las variables clave mantienen su signo y significancia sin cruzar OR = 1 en ningún remuestreo.</a:t>
            </a:r>
          </a:p>
          <a:p>
            <a:pPr>
              <a:spcBef>
                <a:spcPts val="800"/>
              </a:spcBef>
              <a:defRPr b="1" sz="1100">
                <a:solidFill>
                  <a:srgbClr val="1E40AF"/>
                </a:solidFill>
              </a:defRPr>
            </a:pPr>
            <a:r>
              <a:t>• Mujer (vs Hombre): </a:t>
            </a:r>
            <a:r>
              <a:rPr b="0">
                <a:solidFill>
                  <a:srgbClr val="0F172A"/>
                </a:solidFill>
              </a:rPr>
              <a:t>OR = 0,749 [IC Boot: 0,698; 0,800]. Efecto protector robusto, inmune al método.</a:t>
            </a:r>
          </a:p>
          <a:p>
            <a:pPr>
              <a:spcBef>
                <a:spcPts val="800"/>
              </a:spcBef>
              <a:defRPr b="1" sz="1100">
                <a:solidFill>
                  <a:srgbClr val="1E40AF"/>
                </a:solidFill>
              </a:defRPr>
            </a:pPr>
            <a:r>
              <a:t>• Áreas de alto rezago: </a:t>
            </a:r>
            <a:r>
              <a:rPr b="0">
                <a:solidFill>
                  <a:srgbClr val="0F172A"/>
                </a:solidFill>
              </a:rPr>
              <a:t>Derecho (OR = 4,42), Agropecuaria (OR = 2,42) y Tecnología/Ingeniería (OR = 2,14).</a:t>
            </a:r>
          </a:p>
          <a:p>
            <a:pPr>
              <a:spcBef>
                <a:spcPts val="800"/>
              </a:spcBef>
              <a:defRPr b="1" sz="1100">
                <a:solidFill>
                  <a:srgbClr val="1E40AF"/>
                </a:solidFill>
              </a:defRPr>
            </a:pPr>
            <a:r>
              <a:t>• Ensanchamiento de intervalos (3,5x - 9,2x): </a:t>
            </a:r>
            <a:r>
              <a:rPr b="0">
                <a:solidFill>
                  <a:srgbClr val="0F172A"/>
                </a:solidFill>
              </a:rPr>
              <a:t>Los errores estándar clásicos de Wald subestiman severamente la incertidumbre real al ignorar la correlación intra-universidad (validando Jackknife de S2).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0" y="1554480"/>
          <a:ext cx="53035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1463040"/>
                <a:gridCol w="914400"/>
              </a:tblGrid>
              <a:tr h="67926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Variable / Nivel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 M2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IC 95% Bootstrap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Ratio Boot/Wald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Mujer (vs Hombre)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0,75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[0,70; 0,80]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1,78x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Edad de ingreso (año)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1,03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[1,02; 1,06]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5,29x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Área: Derecho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4,42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[2,85; 6,52]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4,93x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Área: Agropecuaria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[1,30; 4,59]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6,84x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Área: Tecnología / 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[1,45; 3,05]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6,26x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Jornada: Diurna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2,26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[1,04; 4,78]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B91C1C"/>
                          </a:solidFill>
                        </a:defRPr>
                      </a:pPr>
                      <a:r>
                        <a:t>9,16x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</a:defRPr>
            </a:pPr>
            <a:r>
              <a:t>BLOQUE 4 · COMPARACIÓN METODOLÓGICA (E1 / E2 / E3 / MI)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Impacto de la Imputación y el Hallazgo de No-Congenialidad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2103120"/>
                <a:gridCol w="201168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Estrategia de Imputación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AUC en Prueba Común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Δ AUC vs E1 [IC 95%]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Exactitud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Prob. Media Predicha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E1 · Eliminación (Casos completos)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0,6666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Referencia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65,55 %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24,57 % (Real: 24,53%)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E2 · Imputación simple (Mediana)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0,6442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-0,0224 [-0,027; -0,019]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65,40 %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28,03 % (Sobrestima 3,5%)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E3 · Regresión lineal multivariada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0,6617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-0,0049 [-0,007; -0,003]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65,30 %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24,16 % (Bien calibrada)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MI · Imputación Múltiple Congeniada (m=20)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0,6640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-0,0026 [-0,004; -0,001]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65,50 %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24,40 % (Óptima)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749039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El Diagnóstico de No-Congenialidad en E3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Omisión de Jornada en la Imputación: E3 predijo la duración sin incluir jornada, asignando un atraso plano de ~20% a todos los imputados.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Distorsión de Odds Ratios: Como 'A Distancia' concentraba 75,9% de faltantes, su atraso bajó artificialmente, haciendo que Diurna subiera a OR = 2,26 y Semipresencial cruzara el 1 (de 0,51 a 1,08).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Inadmisibilidad de E2: La mediana dio vuelta el signo de 3 jornadas y de Educación, inflando el riesgo al 80-100% en carreras cortas.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749039"/>
            <a:ext cx="52120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300" b="1">
                <a:solidFill>
                  <a:srgbClr val="15803D"/>
                </a:solidFill>
              </a:defRPr>
            </a:pPr>
            <a:r>
              <a:t>Solución: Imputación Múltiple Congeniada (MI)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Modelo Congeniado: Se re-imputó incorporando jornada, sexo y edad con m=20 conjuntos generados por muestreo bayesiano de parámetros.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Reglas de Rubin: Combina varianza intra y entre-imputaciones, capturando con rigor la verdadera incertidumbre del dato ausente.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</a:defRPr>
            </a:pPr>
            <a:r>
              <a:t>• Corrección de la Distorsión: La discrepancia media con E1 cayó de 18,5% a solo 7,3%, Diurna bajó a OR = 1,60 y Semipresencial retornó a 0,62 (protector).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40AF"/>
                </a:solidFill>
              </a:defRPr>
            </a:pPr>
            <a:r>
              <a:t>BLOQUE 4 · SÍNTESIS S1 -&gt; S2 -&gt; S3 Y TOMA DE DECISIONES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Cadena Metodológica Acumulativa y Recomendaciones Directivas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1E40AF"/>
                </a:solidFill>
              </a:defRPr>
            </a:pPr>
            <a:r>
              <a:t>Progresión Acumulativa (S1 -&gt; S2 -&gt; S3)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Sumativa 1 (Fase 2): Calidad y Exploración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Aislamiento de códigos centinela (12,75% faltantes MAR), retención fundada de 3.201 atípicos Tukey y asimetría positiva del atraso.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Sumativa 2 (Fase 3): Validación por Remuestreo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Bootstrap BCa demostró que el área curricular media la brecha de género (de +1,07 a +0,55 semestres) y Jackknife descubrió la fuerte dependencia institucional.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Sumativa 3 (Fase 4): Modelamiento e Integración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Imputación multivariada informada, regresión logística con selección parsimoniosa (M2), auditoría de no-congenialidad e inferencia clúster.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/>
          <a:lstStyle/>
          <a:p>
            <a:pPr algn="ctr">
              <a:defRPr sz="1500" b="1">
                <a:solidFill>
                  <a:srgbClr val="15803D"/>
                </a:solidFill>
              </a:defRPr>
            </a:pPr>
            <a:r>
              <a:t>Recomendaciones Estratégicas para la Gestión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1. Sistemas de Alerta Temprana Diferenciados por Área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Focalizar tutorías y recursos de egreso en carreras de Derecho (OR = 4,42), Ingeniería y Tecnología (OR = 2,14) y Ciencias Básicas (OR = 2,03), donde los cuellos de botella de titulación son estructurales y no explicables por variables basales.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2. Regulación y Flexibilización de Plazos de Gratuidad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Casi un 25% del estudiantado sufre atraso severo (&gt;4 semestres). El límite estricto de gratuidad a la duración nominal empuja a la deserción terminal y sobreendeudamiento; se requiere cobertura proporcional regulada.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3. Rigor Metodológico en Analítica Institucional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</a:defRPr>
            </a:pPr>
            <a:r>
              <a:t>Prohibir la imputación simple en sistemas de retención universitaria; exigir siempre imputación múltiple congeniada y ajustar la inferencia por la estructura clúster de las instituciones.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93C5FD"/>
                </a:solidFill>
              </a:defRPr>
            </a:pPr>
            <a:r>
              <a:t>REPRODUCIBILIDAD Y CIERRE DEL PROYECTO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</a:defRPr>
            </a:pPr>
            <a:r>
              <a:t>Trazabilidad Integral y Repositorio Oficial en GitHub</a:t>
            </a:r>
          </a:p>
          <a:p>
            <a:pPr>
              <a:spcBef>
                <a:spcPts val="1600"/>
              </a:spcBef>
              <a:defRPr sz="1800" b="1">
                <a:solidFill>
                  <a:srgbClr val="60A5FA"/>
                </a:solidFill>
              </a:defRPr>
            </a:pPr>
            <a:r>
              <a:t>https://github.com/jaossandon/sumativa1-f2-mcdi501</a:t>
            </a:r>
          </a:p>
          <a:p>
            <a:pPr>
              <a:spcBef>
                <a:spcPts val="1800"/>
              </a:spcBef>
              <a:defRPr sz="1300">
                <a:solidFill>
                  <a:srgbClr val="E2E8F0"/>
                </a:solidFill>
              </a:defRPr>
            </a:pPr>
            <a:r>
              <a:t>• S1/: Exploración de datos y primer informe de calidad.</a:t>
            </a:r>
            <a:br/>
            <a:r>
              <a:t>• S2/: Remuestreo Bootstrap, Monte Carlo y Jackknife por universidad.</a:t>
            </a:r>
            <a:br/>
            <a:r>
              <a:t>• S3/: Notebooks reproducibles de Preparación, Regresión Logística e Impacto de Imputación (S3_01, S3_02, S3_03).</a:t>
            </a:r>
            <a:br/>
            <a:r>
              <a:t>• Resultados auditados y figuras de alta resolución integradas en plantilla institucional.</a:t>
            </a:r>
          </a:p>
          <a:p>
            <a:pPr>
              <a:spcBef>
                <a:spcPts val="2400"/>
              </a:spcBef>
              <a:defRPr sz="1400" b="1">
                <a:solidFill>
                  <a:srgbClr val="FDE047"/>
                </a:solidFill>
              </a:defRPr>
            </a:pPr>
            <a:r>
              <a:t>¡Muchas gracias! — Grupo 6 (Fernanda Ovalle, Sebastián Cajales, César Lorca, Jorge Álvarez)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