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Introducción al Bloque 4. Esperar el pase de César Lorca. Agradecer cordialmente e iniciar con seguridad técnica.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César. Para garantizar que nuestro modelo logístico final no dependa exclusivamente de supuestos asintóticos teóricos que suelen fallar en muestras con agrupamiento o asimetría —como detectamos en la Sumativa 2 mediante Jackknife—, aplicamos un remuestreo bootstrap no paramétrico con 1.000 réplicas sobre el conjunto de entrenamiento.</a:t>
            </a:r>
          </a:p>
          <a:p/>
          <a:p>
            <a:r>
              <a:t>Al contrastar los intervalos asintóticos tradicionales de Wald con los intervalos bootstrap percentil y BCa al 95 %, confirmamos una alta estabilidad paramétrica: los coeficientes de las variables de mayor impacto —como la jornada vespertina, la edad de titulación y las áreas tecnológicas— mantienen intervalos estrechos y sin cruzar el valor nulo de Odds Ratio igual a 1.</a:t>
            </a:r>
          </a:p>
          <a:p/>
          <a:p>
            <a:r>
              <a:t>Asimismo, el diagnóstico de supuestos ratificó la validez del modelo: los Factores de Inflación de Varianza se ubicaron bajo el umbral de 5 descartando multicolinealidad, la linealidad en el logit fue consistente según Box-Tidwell y no se identificaron puntos de apalancamiento que distorsionaran sustantivamente las probabilidades estimadas.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Uno de los focos evaluativos más relevantes de esta Sumativa 3 fue evaluar si la estrategia para tratar el 12,75 % de datos no observados altera o no las decisiones institucionales.</a:t>
            </a:r>
          </a:p>
          <a:p/>
          <a:p>
            <a:r>
              <a:t>Para responder a esto, re-ajustamos la especificación del modelo final sobre los tres escenarios: eliminación de casos completos, imputación simple por mediana e imputación por regresión múltiple.</a:t>
            </a:r>
          </a:p>
          <a:p/>
          <a:p>
            <a:r>
              <a:t>Los resultados son categóricos: aunque la eliminación de casos completos preserva la dirección general de los efectos, la imputación por regresión maximiza la potencia estadística sin inflar artificialmente la precisión, logrando un desempeño predictivo sólido en el conjunto de prueba, demostrando que los factores de riesgo identificados son estructurales y no un artefacto de la falta de datos.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concluir la exposición grupal, queremos destacar la progresión metodológica integral de este proyecto:</a:t>
            </a:r>
          </a:p>
          <a:p>
            <a:r>
              <a:t>En S1, el análisis exploratorio evitó descartar erróneamente los valores atípicos y caracterizó la asimetría del rezago.</a:t>
            </a:r>
          </a:p>
          <a:p>
            <a:r>
              <a:t>En S2, los métodos computacionales de remuestreo demostraron que la brecha de género se explicaba por el área de estudio y que existía una fuerte dependencia institucional.</a:t>
            </a:r>
          </a:p>
          <a:p>
            <a:r>
              <a:t>Y en esta S3, integramos ambos antecedentes para imputar con fundamento teórico y construir un clasificador logístico robusto y validado computacionalmente.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términos de negocio y política educativa, nuestras dos recomendaciones clave son:</a:t>
            </a:r>
          </a:p>
          <a:p/>
          <a:p>
            <a:r>
              <a:t>Primero, diseñar Sistemas de Alerta Temprana focalizados, donde las tutorías y el seguimiento académico se concentren de manera prioritaria en facultades de Ingeniería y Tecnología, con especial flexibilidad para los estudiantes de jornada vespertina.</a:t>
            </a:r>
          </a:p>
          <a:p/>
          <a:p>
            <a:r>
              <a:t>Y segundo, revisar los plazos rígidos de financiamiento y gratuidad, considerando que el atraso superior a 4 semestres no es una anomalía individual aislada, sino un fenómeno estructural del sistema formativo universitario chileno.</a:t>
            </a:r>
          </a:p>
          <a:p/>
          <a:p>
            <a:r>
              <a:t>Muchas gracias por su atención y quedamos atentos 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E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ab.png"/>
          <p:cNvPicPr>
            <a:picLocks noChangeAspect="1"/>
          </p:cNvPicPr>
          <p:nvPr/>
        </p:nvPicPr>
        <p:blipFill>
          <a:blip r:embed="rId2"/>
          <a:stretch>
            <a:fillRect/>
          </a:stretch>
        </p:blipFill>
        <p:spPr>
          <a:xfrm>
            <a:off x="914400" y="914400"/>
            <a:ext cx="1324096" cy="1097280"/>
          </a:xfrm>
          <a:prstGeom prst="rect">
            <a:avLst/>
          </a:prstGeom>
        </p:spPr>
      </p:pic>
      <p:sp>
        <p:nvSpPr>
          <p:cNvPr id="4" name="TextBox 3"/>
          <p:cNvSpPr txBox="1"/>
          <p:nvPr/>
        </p:nvSpPr>
        <p:spPr>
          <a:xfrm>
            <a:off x="914400" y="2286000"/>
            <a:ext cx="10332720" cy="457200"/>
          </a:xfrm>
          <a:prstGeom prst="rect">
            <a:avLst/>
          </a:prstGeom>
          <a:noFill/>
        </p:spPr>
        <p:txBody>
          <a:bodyPr wrap="none">
            <a:spAutoFit/>
          </a:bodyPr>
          <a:lstStyle/>
          <a:p>
            <a:pPr>
              <a:defRPr sz="1100" b="1">
                <a:solidFill>
                  <a:srgbClr val="DC3545"/>
                </a:solidFill>
              </a:defRPr>
            </a:pPr>
            <a:r>
              <a:t>MAGÍSTER EN CIENCIA DE DATOS E IA  ·  MCDI501: ESTADÍSTICA COMPUTACIONAL</a:t>
            </a:r>
          </a:p>
        </p:txBody>
      </p:sp>
      <p:sp>
        <p:nvSpPr>
          <p:cNvPr id="5" name="TextBox 4"/>
          <p:cNvSpPr txBox="1"/>
          <p:nvPr/>
        </p:nvSpPr>
        <p:spPr>
          <a:xfrm>
            <a:off x="914400" y="2743200"/>
            <a:ext cx="10332720" cy="1463040"/>
          </a:xfrm>
          <a:prstGeom prst="rect">
            <a:avLst/>
          </a:prstGeom>
          <a:noFill/>
        </p:spPr>
        <p:txBody>
          <a:bodyPr wrap="square">
            <a:spAutoFit/>
          </a:bodyPr>
          <a:lstStyle/>
          <a:p>
            <a:pPr>
              <a:defRPr sz="3200" b="1">
                <a:solidFill>
                  <a:srgbClr val="FFFFFF"/>
                </a:solidFill>
              </a:defRPr>
            </a:pPr>
            <a:r>
              <a:t>Modelamiento Predictivo Integrado del</a:t>
            </a:r>
            <a:br/>
            <a:r>
              <a:t>Atraso Académico en Educación Superior</a:t>
            </a:r>
          </a:p>
        </p:txBody>
      </p:sp>
      <p:sp>
        <p:nvSpPr>
          <p:cNvPr id="6" name="TextBox 5"/>
          <p:cNvSpPr txBox="1"/>
          <p:nvPr/>
        </p:nvSpPr>
        <p:spPr>
          <a:xfrm>
            <a:off x="914400" y="4389120"/>
            <a:ext cx="10332720" cy="731520"/>
          </a:xfrm>
          <a:prstGeom prst="rect">
            <a:avLst/>
          </a:prstGeom>
          <a:noFill/>
        </p:spPr>
        <p:txBody>
          <a:bodyPr wrap="none">
            <a:spAutoFit/>
          </a:bodyPr>
          <a:lstStyle/>
          <a:p>
            <a:pPr>
              <a:defRPr sz="1600" b="1">
                <a:solidFill>
                  <a:srgbClr val="ADB5BD"/>
                </a:solidFill>
              </a:defRPr>
            </a:pPr>
            <a:r>
              <a:t>Bloque 4: Estabilidad Bootstrap, Impacto de la Imputación y Recomendaciones</a:t>
            </a:r>
          </a:p>
        </p:txBody>
      </p:sp>
      <p:sp>
        <p:nvSpPr>
          <p:cNvPr id="7" name="TextBox 6"/>
          <p:cNvSpPr txBox="1"/>
          <p:nvPr/>
        </p:nvSpPr>
        <p:spPr>
          <a:xfrm>
            <a:off x="914400" y="5212080"/>
            <a:ext cx="10332720" cy="1097280"/>
          </a:xfrm>
          <a:prstGeom prst="rect">
            <a:avLst/>
          </a:prstGeom>
          <a:noFill/>
        </p:spPr>
        <p:txBody>
          <a:bodyPr wrap="none">
            <a:spAutoFit/>
          </a:bodyPr>
          <a:lstStyle/>
          <a:p>
            <a:pPr>
              <a:defRPr sz="1300" b="1">
                <a:solidFill>
                  <a:srgbClr val="FFFFFF"/>
                </a:solidFill>
              </a:defRPr>
            </a:pPr>
            <a:r>
              <a:t>Expositor: Sebastián Cajales Cid (Bloque 4)</a:t>
            </a:r>
          </a:p>
          <a:p>
            <a:pPr>
              <a:defRPr sz="1100">
                <a:solidFill>
                  <a:srgbClr val="94A3B8"/>
                </a:solidFill>
              </a:defRPr>
            </a:pPr>
            <a:r>
              <a:t>Equipo: Fernanda Ovalle Román · Jorge Álvarez Ossandón · César Lorca Bacián · Sebastián Cajales Cid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000" b="1">
                <a:solidFill>
                  <a:srgbClr val="A6192E"/>
                </a:solidFill>
              </a:defRPr>
            </a:pPr>
            <a:r>
              <a:t>SUMATIVA 3 · BLOQUE 4 · SEBASTIÁN CAJALES</a:t>
            </a:r>
          </a:p>
        </p:txBody>
      </p:sp>
      <p:sp>
        <p:nvSpPr>
          <p:cNvPr id="3" name="TextBox 2"/>
          <p:cNvSpPr txBox="1"/>
          <p:nvPr/>
        </p:nvSpPr>
        <p:spPr>
          <a:xfrm>
            <a:off x="731520" y="640080"/>
            <a:ext cx="9601200" cy="731520"/>
          </a:xfrm>
          <a:prstGeom prst="rect">
            <a:avLst/>
          </a:prstGeom>
          <a:noFill/>
        </p:spPr>
        <p:txBody>
          <a:bodyPr wrap="square">
            <a:spAutoFit/>
          </a:bodyPr>
          <a:lstStyle/>
          <a:p>
            <a:pPr>
              <a:defRPr sz="2200" b="1">
                <a:solidFill>
                  <a:srgbClr val="1A2C4C"/>
                </a:solidFill>
              </a:defRPr>
            </a:pPr>
            <a:r>
              <a:t>Estabilidad Bootstrap (B ≥ 1.000) y Diagnóstico de Supuestos</a:t>
            </a:r>
          </a:p>
        </p:txBody>
      </p:sp>
      <p:pic>
        <p:nvPicPr>
          <p:cNvPr id="4" name="Picture 3" descr="logo_unab.png"/>
          <p:cNvPicPr>
            <a:picLocks noChangeAspect="1"/>
          </p:cNvPicPr>
          <p:nvPr/>
        </p:nvPicPr>
        <p:blipFill>
          <a:blip r:embed="rId2"/>
          <a:stretch>
            <a:fillRect/>
          </a:stretch>
        </p:blipFill>
        <p:spPr>
          <a:xfrm>
            <a:off x="10241280" y="365760"/>
            <a:ext cx="882731" cy="731520"/>
          </a:xfrm>
          <a:prstGeom prst="rect">
            <a:avLst/>
          </a:prstGeom>
        </p:spPr>
      </p:pic>
      <p:sp>
        <p:nvSpPr>
          <p:cNvPr id="5" name="Rounded Rectangle 4"/>
          <p:cNvSpPr/>
          <p:nvPr/>
        </p:nvSpPr>
        <p:spPr>
          <a:xfrm>
            <a:off x="731520" y="1463040"/>
            <a:ext cx="5120640" cy="4846320"/>
          </a:xfrm>
          <a:prstGeom prst="roundRect">
            <a:avLst/>
          </a:prstGeom>
          <a:solidFill>
            <a:srgbClr val="F8F9FB"/>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600" b="1">
                <a:solidFill>
                  <a:srgbClr val="1A2C4C"/>
                </a:solidFill>
              </a:defRPr>
            </a:pPr>
            <a:r>
              <a:t>Evaluación de Estabilidad por Remuestreo</a:t>
            </a:r>
          </a:p>
          <a:p>
            <a:pPr>
              <a:defRPr sz="1100" b="1">
                <a:solidFill>
                  <a:srgbClr val="212529"/>
                </a:solidFill>
              </a:defRPr>
            </a:pPr>
            <a:r>
              <a:t>• Motivación metodológica: </a:t>
            </a:r>
            <a:r>
              <a:rPr b="0" sz="1100">
                <a:solidFill>
                  <a:srgbClr val="6C757D"/>
                </a:solidFill>
              </a:rPr>
              <a:t>La inferencia asintótica tradicional (Wald) asume normalidad e independencia estricta. La S2 demostró correlación intra-universidad mediante Jackknife.</a:t>
            </a:r>
          </a:p>
          <a:p>
            <a:pPr>
              <a:defRPr sz="1100" b="1">
                <a:solidFill>
                  <a:srgbClr val="212529"/>
                </a:solidFill>
              </a:defRPr>
            </a:pPr>
            <a:r>
              <a:t>• Configuración computacional: </a:t>
            </a:r>
            <a:r>
              <a:rPr b="0" sz="1100">
                <a:solidFill>
                  <a:srgbClr val="6C757D"/>
                </a:solidFill>
              </a:rPr>
              <a:t>B = 1.000 réplicas no paramétricas sobre el conjunto de Train (70 %, n = 64.167).</a:t>
            </a:r>
          </a:p>
          <a:p>
            <a:pPr>
              <a:defRPr sz="1100" b="1">
                <a:solidFill>
                  <a:srgbClr val="212529"/>
                </a:solidFill>
              </a:defRPr>
            </a:pPr>
            <a:r>
              <a:t>• Intervalos al 95 %: </a:t>
            </a:r>
            <a:r>
              <a:rPr b="0" sz="1100">
                <a:solidFill>
                  <a:srgbClr val="6C757D"/>
                </a:solidFill>
              </a:rPr>
              <a:t>Cálculo de intervalos Percentil y BCa (Bias-Corrected and Accelerated) para cada coeficiente beta y Odds Ratio.</a:t>
            </a:r>
          </a:p>
          <a:p>
            <a:pPr>
              <a:defRPr sz="1100" b="1">
                <a:solidFill>
                  <a:srgbClr val="212529"/>
                </a:solidFill>
              </a:defRPr>
            </a:pPr>
            <a:r>
              <a:t>• Resultado clave: </a:t>
            </a:r>
            <a:r>
              <a:rPr b="0" sz="1100">
                <a:solidFill>
                  <a:srgbClr val="6C757D"/>
                </a:solidFill>
              </a:rPr>
              <a:t>Alta estabilidad paramétrica. Ningún intervalo de las variables principales cruza el 1.0 (significancia robusta en Jornada Vespertina, Edad y Tecnología).</a:t>
            </a:r>
          </a:p>
        </p:txBody>
      </p:sp>
      <p:sp>
        <p:nvSpPr>
          <p:cNvPr id="6" name="Rounded Rectangle 5"/>
          <p:cNvSpPr/>
          <p:nvPr/>
        </p:nvSpPr>
        <p:spPr>
          <a:xfrm>
            <a:off x="6217920" y="1463040"/>
            <a:ext cx="5120640" cy="4846320"/>
          </a:xfrm>
          <a:prstGeom prst="roundRect">
            <a:avLst/>
          </a:prstGeom>
          <a:solidFill>
            <a:srgbClr val="F8F9FB"/>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600" b="1">
                <a:solidFill>
                  <a:srgbClr val="1A2C4C"/>
                </a:solidFill>
              </a:defRPr>
            </a:pPr>
            <a:r>
              <a:t>Verificación de Supuestos Logísticos</a:t>
            </a:r>
          </a:p>
          <a:p>
            <a:pPr>
              <a:defRPr sz="1100" b="1">
                <a:solidFill>
                  <a:srgbClr val="212529"/>
                </a:solidFill>
              </a:defRPr>
            </a:pPr>
            <a:r>
              <a:t>• Multicolinealidad (VIF): </a:t>
            </a:r>
            <a:r>
              <a:rPr b="0" sz="1100">
                <a:solidFill>
                  <a:srgbClr val="6C757D"/>
                </a:solidFill>
              </a:rPr>
              <a:t>Factores de Inflación de Varianza controlados (VIF &lt; 5 en todas las variables continuas y dummies).</a:t>
            </a:r>
          </a:p>
          <a:p>
            <a:pPr>
              <a:defRPr sz="1100" b="1">
                <a:solidFill>
                  <a:srgbClr val="212529"/>
                </a:solidFill>
              </a:defRPr>
            </a:pPr>
            <a:r>
              <a:t>• Linealidad en el Logit (Box-Tidwell): </a:t>
            </a:r>
            <a:r>
              <a:rPr b="0" sz="1100">
                <a:solidFill>
                  <a:srgbClr val="6C757D"/>
                </a:solidFill>
              </a:rPr>
              <a:t>Contraste de términos X · ln(X) para edad de titulación y duración, validando la relación lineal con el log-odds.</a:t>
            </a:r>
          </a:p>
          <a:p>
            <a:pPr>
              <a:defRPr sz="1100" b="1">
                <a:solidFill>
                  <a:srgbClr val="212529"/>
                </a:solidFill>
              </a:defRPr>
            </a:pPr>
            <a:r>
              <a:t>• Residuos Deviance y Pearson: </a:t>
            </a:r>
            <a:r>
              <a:rPr b="0" sz="1100">
                <a:solidFill>
                  <a:srgbClr val="6C757D"/>
                </a:solidFill>
              </a:rPr>
              <a:t>Distribución simétrica de residuos deviance, sin agrupamientos anómalos ni sobredispersión residual severa.</a:t>
            </a:r>
          </a:p>
          <a:p>
            <a:pPr>
              <a:defRPr sz="1100" b="1">
                <a:solidFill>
                  <a:srgbClr val="212529"/>
                </a:solidFill>
              </a:defRPr>
            </a:pPr>
            <a:r>
              <a:t>• Observaciones Influyentes (Cook): </a:t>
            </a:r>
            <a:r>
              <a:rPr b="0" sz="1100">
                <a:solidFill>
                  <a:srgbClr val="6C757D"/>
                </a:solidFill>
              </a:rPr>
              <a:t>Análisis de Distancia de Cook y apalancamiento (leverage). Ausencia de casos únicos que determinen los Odds Ratios.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000" b="1">
                <a:solidFill>
                  <a:srgbClr val="A6192E"/>
                </a:solidFill>
              </a:defRPr>
            </a:pPr>
            <a:r>
              <a:t>SUMATIVA 3 · BLOQUE 4 · SEBASTIÁN CAJALES</a:t>
            </a:r>
          </a:p>
        </p:txBody>
      </p:sp>
      <p:sp>
        <p:nvSpPr>
          <p:cNvPr id="3" name="TextBox 2"/>
          <p:cNvSpPr txBox="1"/>
          <p:nvPr/>
        </p:nvSpPr>
        <p:spPr>
          <a:xfrm>
            <a:off x="731520" y="640080"/>
            <a:ext cx="9601200" cy="731520"/>
          </a:xfrm>
          <a:prstGeom prst="rect">
            <a:avLst/>
          </a:prstGeom>
          <a:noFill/>
        </p:spPr>
        <p:txBody>
          <a:bodyPr wrap="square">
            <a:spAutoFit/>
          </a:bodyPr>
          <a:lstStyle/>
          <a:p>
            <a:pPr>
              <a:defRPr sz="2200" b="1">
                <a:solidFill>
                  <a:srgbClr val="1A2C4C"/>
                </a:solidFill>
              </a:defRPr>
            </a:pPr>
            <a:r>
              <a:t>Impacto Analítico de la Estrategia de Imputación</a:t>
            </a:r>
          </a:p>
        </p:txBody>
      </p:sp>
      <p:pic>
        <p:nvPicPr>
          <p:cNvPr id="4" name="Picture 3" descr="logo_unab.png"/>
          <p:cNvPicPr>
            <a:picLocks noChangeAspect="1"/>
          </p:cNvPicPr>
          <p:nvPr/>
        </p:nvPicPr>
        <p:blipFill>
          <a:blip r:embed="rId2"/>
          <a:stretch>
            <a:fillRect/>
          </a:stretch>
        </p:blipFill>
        <p:spPr>
          <a:xfrm>
            <a:off x="10241280" y="365760"/>
            <a:ext cx="882731" cy="731520"/>
          </a:xfrm>
          <a:prstGeom prst="rect">
            <a:avLst/>
          </a:prstGeom>
        </p:spPr>
      </p:pic>
      <p:sp>
        <p:nvSpPr>
          <p:cNvPr id="5" name="Rounded Rectangle 4"/>
          <p:cNvSpPr/>
          <p:nvPr/>
        </p:nvSpPr>
        <p:spPr>
          <a:xfrm>
            <a:off x="731520" y="1463040"/>
            <a:ext cx="3337560" cy="4846320"/>
          </a:xfrm>
          <a:prstGeom prst="roundRect">
            <a:avLst/>
          </a:prstGeom>
          <a:solidFill>
            <a:srgbClr val="F8F9FB"/>
          </a:solidFill>
          <a:ln w="12700">
            <a:solidFill>
              <a:srgbClr val="6C757D"/>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400" b="1">
                <a:solidFill>
                  <a:srgbClr val="1A2C4C"/>
                </a:solidFill>
              </a:defRPr>
            </a:pPr>
            <a:r>
              <a:t>1. Eliminación Listwise</a:t>
            </a:r>
          </a:p>
          <a:p>
            <a:pPr>
              <a:defRPr sz="950" b="1">
                <a:solidFill>
                  <a:srgbClr val="6C757D"/>
                </a:solidFill>
              </a:defRPr>
            </a:pPr>
            <a:r>
              <a:t>Complete-case analysis · n = 91.667 (-12,75 %)</a:t>
            </a:r>
          </a:p>
          <a:p/>
          <a:p>
            <a:pPr>
              <a:defRPr sz="1000" b="1">
                <a:solidFill>
                  <a:srgbClr val="212529"/>
                </a:solidFill>
              </a:defRPr>
            </a:pPr>
            <a:r>
              <a:t>• Pérdida muestral: </a:t>
            </a:r>
            <a:r>
              <a:rPr b="0" sz="950">
                <a:solidFill>
                  <a:srgbClr val="6C757D"/>
                </a:solidFill>
              </a:rPr>
              <a:t>Descarta 13.396 estudiantes reales.</a:t>
            </a:r>
          </a:p>
          <a:p>
            <a:pPr>
              <a:defRPr sz="1000" b="1">
                <a:solidFill>
                  <a:srgbClr val="212529"/>
                </a:solidFill>
              </a:defRPr>
            </a:pPr>
            <a:r>
              <a:t>• Sesgo potencial: </a:t>
            </a:r>
            <a:r>
              <a:rPr b="0" sz="950">
                <a:solidFill>
                  <a:srgbClr val="6C757D"/>
                </a:solidFill>
              </a:rPr>
              <a:t>Subrepresenta programas vespertinos y convalidaciones (patrón MAR).</a:t>
            </a:r>
          </a:p>
          <a:p>
            <a:pPr>
              <a:defRPr sz="1000" b="1">
                <a:solidFill>
                  <a:srgbClr val="212529"/>
                </a:solidFill>
              </a:defRPr>
            </a:pPr>
            <a:r>
              <a:t>• Odds Ratios: </a:t>
            </a:r>
            <a:r>
              <a:rPr b="0" sz="950">
                <a:solidFill>
                  <a:srgbClr val="6C757D"/>
                </a:solidFill>
              </a:rPr>
              <a:t>Signos preservados pero intervalos más anchos por menor n.</a:t>
            </a:r>
          </a:p>
          <a:p>
            <a:pPr>
              <a:defRPr sz="1000" b="1">
                <a:solidFill>
                  <a:srgbClr val="212529"/>
                </a:solidFill>
              </a:defRPr>
            </a:pPr>
            <a:r>
              <a:t>• Veredicto: </a:t>
            </a:r>
            <a:r>
              <a:rPr b="0" sz="950">
                <a:solidFill>
                  <a:srgbClr val="6C757D"/>
                </a:solidFill>
              </a:rPr>
              <a:t>Inconveniente para políticas institucionales integrales.</a:t>
            </a:r>
          </a:p>
        </p:txBody>
      </p:sp>
      <p:sp>
        <p:nvSpPr>
          <p:cNvPr id="6" name="Rounded Rectangle 5"/>
          <p:cNvSpPr/>
          <p:nvPr/>
        </p:nvSpPr>
        <p:spPr>
          <a:xfrm>
            <a:off x="4389120" y="1463040"/>
            <a:ext cx="3337560" cy="4846320"/>
          </a:xfrm>
          <a:prstGeom prst="roundRect">
            <a:avLst/>
          </a:prstGeom>
          <a:solidFill>
            <a:srgbClr val="F8F9FB"/>
          </a:solidFill>
          <a:ln w="12700">
            <a:solidFill>
              <a:srgbClr val="6C757D"/>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400" b="1">
                <a:solidFill>
                  <a:srgbClr val="1A2C4C"/>
                </a:solidFill>
              </a:defRPr>
            </a:pPr>
            <a:r>
              <a:t>2. Imputación Simple</a:t>
            </a:r>
          </a:p>
          <a:p>
            <a:pPr>
              <a:defRPr sz="950" b="1">
                <a:solidFill>
                  <a:srgbClr val="6C757D"/>
                </a:solidFill>
              </a:defRPr>
            </a:pPr>
            <a:r>
              <a:t>Mediana condicionada · n = 105.063 (100 %)</a:t>
            </a:r>
          </a:p>
          <a:p/>
          <a:p>
            <a:pPr>
              <a:defRPr sz="1000" b="1">
                <a:solidFill>
                  <a:srgbClr val="212529"/>
                </a:solidFill>
              </a:defRPr>
            </a:pPr>
            <a:r>
              <a:t>• Recuperación: </a:t>
            </a:r>
            <a:r>
              <a:rPr b="0" sz="950">
                <a:solidFill>
                  <a:srgbClr val="6C757D"/>
                </a:solidFill>
              </a:rPr>
              <a:t>Recupera todas las filas faltantes.</a:t>
            </a:r>
          </a:p>
          <a:p>
            <a:pPr>
              <a:defRPr sz="1000" b="1">
                <a:solidFill>
                  <a:srgbClr val="212529"/>
                </a:solidFill>
              </a:defRPr>
            </a:pPr>
            <a:r>
              <a:t>• Distorsión: </a:t>
            </a:r>
            <a:r>
              <a:rPr b="0" sz="950">
                <a:solidFill>
                  <a:srgbClr val="6C757D"/>
                </a:solidFill>
              </a:rPr>
              <a:t>Comprime artificialmente la varianza e infla la precisión estadística.</a:t>
            </a:r>
          </a:p>
          <a:p>
            <a:pPr>
              <a:defRPr sz="1000" b="1">
                <a:solidFill>
                  <a:srgbClr val="212529"/>
                </a:solidFill>
              </a:defRPr>
            </a:pPr>
            <a:r>
              <a:t>• Correlaciones: </a:t>
            </a:r>
            <a:r>
              <a:rPr b="0" sz="950">
                <a:solidFill>
                  <a:srgbClr val="6C757D"/>
                </a:solidFill>
              </a:rPr>
              <a:t>Atenúa la covarianza natural atraso-edad.</a:t>
            </a:r>
          </a:p>
          <a:p>
            <a:pPr>
              <a:defRPr sz="1000" b="1">
                <a:solidFill>
                  <a:srgbClr val="212529"/>
                </a:solidFill>
              </a:defRPr>
            </a:pPr>
            <a:r>
              <a:t>• Veredicto: </a:t>
            </a:r>
            <a:r>
              <a:rPr b="0" sz="950">
                <a:solidFill>
                  <a:srgbClr val="6C757D"/>
                </a:solidFill>
              </a:rPr>
              <a:t>Riesgo de subestimar el error estándar real.</a:t>
            </a:r>
          </a:p>
        </p:txBody>
      </p:sp>
      <p:sp>
        <p:nvSpPr>
          <p:cNvPr id="7" name="Rounded Rectangle 6"/>
          <p:cNvSpPr/>
          <p:nvPr/>
        </p:nvSpPr>
        <p:spPr>
          <a:xfrm>
            <a:off x="8046720" y="1463040"/>
            <a:ext cx="3337560" cy="4846320"/>
          </a:xfrm>
          <a:prstGeom prst="roundRect">
            <a:avLst/>
          </a:prstGeom>
          <a:solidFill>
            <a:srgbClr val="F8F9FB"/>
          </a:solidFill>
          <a:ln w="25400">
            <a:solidFill>
              <a:srgbClr val="A6192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400" b="1">
                <a:solidFill>
                  <a:srgbClr val="1A2C4C"/>
                </a:solidFill>
              </a:defRPr>
            </a:pPr>
            <a:r>
              <a:t>3. Regresión Múltiple</a:t>
            </a:r>
          </a:p>
          <a:p>
            <a:pPr>
              <a:defRPr sz="950" b="1">
                <a:solidFill>
                  <a:srgbClr val="A6192E"/>
                </a:solidFill>
              </a:defRPr>
            </a:pPr>
            <a:r>
              <a:t>Imputación inteligente · n = 105.063 (100 %)</a:t>
            </a:r>
          </a:p>
          <a:p/>
          <a:p>
            <a:pPr>
              <a:defRPr sz="1000" b="1">
                <a:solidFill>
                  <a:srgbClr val="212529"/>
                </a:solidFill>
              </a:defRPr>
            </a:pPr>
            <a:r>
              <a:t>• Fundamento S1/S2: </a:t>
            </a:r>
            <a:r>
              <a:rPr b="0" sz="950">
                <a:solidFill>
                  <a:srgbClr val="6C757D"/>
                </a:solidFill>
              </a:rPr>
              <a:t>Usa predictores con correlación robusta (edad, duración, área, jornada).</a:t>
            </a:r>
          </a:p>
          <a:p>
            <a:pPr>
              <a:defRPr sz="1000" b="1">
                <a:solidFill>
                  <a:srgbClr val="212529"/>
                </a:solidFill>
              </a:defRPr>
            </a:pPr>
            <a:r>
              <a:t>• Covarianza: </a:t>
            </a:r>
            <a:r>
              <a:rPr b="0" sz="950">
                <a:solidFill>
                  <a:srgbClr val="6C757D"/>
                </a:solidFill>
              </a:rPr>
              <a:t>Preserva la estructura multivariada de los datos.</a:t>
            </a:r>
          </a:p>
          <a:p>
            <a:pPr>
              <a:defRPr sz="1000" b="1">
                <a:solidFill>
                  <a:srgbClr val="212529"/>
                </a:solidFill>
              </a:defRPr>
            </a:pPr>
            <a:r>
              <a:t>• Desempeño Test: </a:t>
            </a:r>
            <a:r>
              <a:rPr b="0" sz="950">
                <a:solidFill>
                  <a:srgbClr val="6C757D"/>
                </a:solidFill>
              </a:rPr>
              <a:t>Mantiene alta capacidad predictiva (AUC sólido en Test).</a:t>
            </a:r>
          </a:p>
          <a:p>
            <a:pPr>
              <a:defRPr sz="1000" b="1">
                <a:solidFill>
                  <a:srgbClr val="212529"/>
                </a:solidFill>
              </a:defRPr>
            </a:pPr>
            <a:r>
              <a:t>• Veredicto: </a:t>
            </a:r>
            <a:r>
              <a:rPr b="0" sz="950">
                <a:solidFill>
                  <a:srgbClr val="6C757D"/>
                </a:solidFill>
              </a:rPr>
              <a:t>Estrategia recomendada: máxima potencia sin sesgo.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000" b="1">
                <a:solidFill>
                  <a:srgbClr val="A6192E"/>
                </a:solidFill>
              </a:defRPr>
            </a:pPr>
            <a:r>
              <a:t>SUMATIVA 3 · BLOQUE 4 · SEBASTIÁN CAJALES</a:t>
            </a:r>
          </a:p>
        </p:txBody>
      </p:sp>
      <p:sp>
        <p:nvSpPr>
          <p:cNvPr id="3" name="TextBox 2"/>
          <p:cNvSpPr txBox="1"/>
          <p:nvPr/>
        </p:nvSpPr>
        <p:spPr>
          <a:xfrm>
            <a:off x="731520" y="640080"/>
            <a:ext cx="9601200" cy="731520"/>
          </a:xfrm>
          <a:prstGeom prst="rect">
            <a:avLst/>
          </a:prstGeom>
          <a:noFill/>
        </p:spPr>
        <p:txBody>
          <a:bodyPr wrap="square">
            <a:spAutoFit/>
          </a:bodyPr>
          <a:lstStyle/>
          <a:p>
            <a:pPr>
              <a:defRPr sz="2200" b="1">
                <a:solidFill>
                  <a:srgbClr val="1A2C4C"/>
                </a:solidFill>
              </a:defRPr>
            </a:pPr>
            <a:r>
              <a:t>Progresión Metodológica Integrada: S1 → S2 → S3</a:t>
            </a:r>
          </a:p>
        </p:txBody>
      </p:sp>
      <p:pic>
        <p:nvPicPr>
          <p:cNvPr id="4" name="Picture 3" descr="logo_unab.png"/>
          <p:cNvPicPr>
            <a:picLocks noChangeAspect="1"/>
          </p:cNvPicPr>
          <p:nvPr/>
        </p:nvPicPr>
        <p:blipFill>
          <a:blip r:embed="rId2"/>
          <a:stretch>
            <a:fillRect/>
          </a:stretch>
        </p:blipFill>
        <p:spPr>
          <a:xfrm>
            <a:off x="10241280" y="365760"/>
            <a:ext cx="882731" cy="731520"/>
          </a:xfrm>
          <a:prstGeom prst="rect">
            <a:avLst/>
          </a:prstGeom>
        </p:spPr>
      </p:pic>
      <p:sp>
        <p:nvSpPr>
          <p:cNvPr id="5" name="Rounded Rectangle 4"/>
          <p:cNvSpPr/>
          <p:nvPr/>
        </p:nvSpPr>
        <p:spPr>
          <a:xfrm>
            <a:off x="731520" y="1371600"/>
            <a:ext cx="10698480" cy="1508760"/>
          </a:xfrm>
          <a:prstGeom prst="roundRect">
            <a:avLst/>
          </a:prstGeom>
          <a:solidFill>
            <a:srgbClr val="F8F9FB"/>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a:lstStyle/>
          <a:p>
            <a:pPr algn="ctr">
              <a:defRPr sz="1300" b="1">
                <a:solidFill>
                  <a:srgbClr val="1A2C4C"/>
                </a:solidFill>
              </a:defRPr>
            </a:pPr>
            <a:r>
              <a:t>Fase 1: Sumativa 1  |  Diagnóstico Exploratorio e Inferencia</a:t>
            </a:r>
          </a:p>
          <a:p>
            <a:pPr>
              <a:defRPr sz="950">
                <a:solidFill>
                  <a:srgbClr val="212529"/>
                </a:solidFill>
              </a:defRPr>
            </a:pPr>
            <a:r>
              <a:t>• Identificación de 12,75 % de faltantes administrativos (1900/0 en ingreso original).</a:t>
            </a:r>
          </a:p>
          <a:p>
            <a:pPr>
              <a:defRPr sz="950">
                <a:solidFill>
                  <a:srgbClr val="212529"/>
                </a:solidFill>
              </a:defRPr>
            </a:pPr>
            <a:r>
              <a:t>• Atraso medio de 3,4 semestres con fuerte asimetría positiva (mediana = 2).</a:t>
            </a:r>
          </a:p>
          <a:p>
            <a:pPr>
              <a:defRPr sz="950">
                <a:solidFill>
                  <a:srgbClr val="212529"/>
                </a:solidFill>
              </a:defRPr>
            </a:pPr>
            <a:r>
              <a:t>• Correlación moderada atraso-edad (rho = 0,47) y brechas iniciales por sexo y jornada.</a:t>
            </a:r>
          </a:p>
          <a:p>
            <a:pPr>
              <a:defRPr sz="950">
                <a:solidFill>
                  <a:srgbClr val="212529"/>
                </a:solidFill>
              </a:defRPr>
            </a:pPr>
            <a:r>
              <a:t>• Detección de 13.201 atípicos según Tukey (decisión clave: conservarlos).</a:t>
            </a:r>
          </a:p>
        </p:txBody>
      </p:sp>
      <p:sp>
        <p:nvSpPr>
          <p:cNvPr id="6" name="Rounded Rectangle 5"/>
          <p:cNvSpPr/>
          <p:nvPr/>
        </p:nvSpPr>
        <p:spPr>
          <a:xfrm>
            <a:off x="731520" y="3063240"/>
            <a:ext cx="10698480" cy="1508760"/>
          </a:xfrm>
          <a:prstGeom prst="roundRect">
            <a:avLst/>
          </a:prstGeom>
          <a:solidFill>
            <a:srgbClr val="F8F9FB"/>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a:lstStyle/>
          <a:p>
            <a:pPr algn="ctr">
              <a:defRPr sz="1300" b="1">
                <a:solidFill>
                  <a:srgbClr val="1A2C4C"/>
                </a:solidFill>
              </a:defRPr>
            </a:pPr>
            <a:r>
              <a:t>Fase 2: Sumativa 2  |  Validación Computacional y Remuestreo</a:t>
            </a:r>
          </a:p>
          <a:p>
            <a:pPr>
              <a:defRPr sz="950">
                <a:solidFill>
                  <a:srgbClr val="212529"/>
                </a:solidFill>
              </a:defRPr>
            </a:pPr>
            <a:r>
              <a:t>• Bootstrap BCa (B = 10.000): Correlaciones son auténticamente estables y lineales.</a:t>
            </a:r>
          </a:p>
          <a:p>
            <a:pPr>
              <a:defRPr sz="950">
                <a:solidFill>
                  <a:srgbClr val="212529"/>
                </a:solidFill>
              </a:defRPr>
            </a:pPr>
            <a:r>
              <a:t>• Análisis de Robustez: Atípicos afectan magnitud de colas pero no alteran la dirección.</a:t>
            </a:r>
          </a:p>
          <a:p>
            <a:pPr>
              <a:defRPr sz="950">
                <a:solidFill>
                  <a:srgbClr val="212529"/>
                </a:solidFill>
              </a:defRPr>
            </a:pPr>
            <a:r>
              <a:t>• Jackknife por Institución: Evidenció dependencia jerárquica intra-universidad.</a:t>
            </a:r>
          </a:p>
          <a:p>
            <a:pPr>
              <a:defRPr sz="950">
                <a:solidFill>
                  <a:srgbClr val="212529"/>
                </a:solidFill>
              </a:defRPr>
            </a:pPr>
            <a:r>
              <a:t>• Efecto Simpson: La brecha por sexo se reduce a la mitad al controlar por área.</a:t>
            </a:r>
          </a:p>
        </p:txBody>
      </p:sp>
      <p:sp>
        <p:nvSpPr>
          <p:cNvPr id="7" name="Rounded Rectangle 6"/>
          <p:cNvSpPr/>
          <p:nvPr/>
        </p:nvSpPr>
        <p:spPr>
          <a:xfrm>
            <a:off x="731520" y="4754880"/>
            <a:ext cx="10698480" cy="1508760"/>
          </a:xfrm>
          <a:prstGeom prst="roundRect">
            <a:avLst/>
          </a:prstGeom>
          <a:solidFill>
            <a:srgbClr val="F8F9FB"/>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a:lstStyle/>
          <a:p>
            <a:pPr algn="ctr">
              <a:defRPr sz="1300" b="1">
                <a:solidFill>
                  <a:srgbClr val="A6192E"/>
                </a:solidFill>
              </a:defRPr>
            </a:pPr>
            <a:r>
              <a:t>Fase 3: Sumativa 3  |  Modelamiento Predictivo y Robustez</a:t>
            </a:r>
          </a:p>
          <a:p>
            <a:pPr>
              <a:defRPr sz="950">
                <a:solidFill>
                  <a:srgbClr val="212529"/>
                </a:solidFill>
              </a:defRPr>
            </a:pPr>
            <a:r>
              <a:t>• Imputación por Regresión: Recupera los 13.396 casos basándose en correlaciones de S1/S2.</a:t>
            </a:r>
          </a:p>
          <a:p>
            <a:pPr>
              <a:defRPr sz="950">
                <a:solidFill>
                  <a:srgbClr val="212529"/>
                </a:solidFill>
              </a:defRPr>
            </a:pPr>
            <a:r>
              <a:t>• Regresión Logística: Clasificación supervisada de 'Atraso Alto' (&gt; 4 semestres).</a:t>
            </a:r>
          </a:p>
          <a:p>
            <a:pPr>
              <a:defRPr sz="950">
                <a:solidFill>
                  <a:srgbClr val="212529"/>
                </a:solidFill>
              </a:defRPr>
            </a:pPr>
            <a:r>
              <a:t>• Bootstrap del Modelo: IC al 95 % confirman estabilidad de Odds Ratios sin asunciones asintóticas.</a:t>
            </a:r>
          </a:p>
          <a:p>
            <a:pPr>
              <a:defRPr sz="950">
                <a:solidFill>
                  <a:srgbClr val="212529"/>
                </a:solidFill>
              </a:defRPr>
            </a:pPr>
            <a:r>
              <a:t>• Evaluación de Impacto: La imputación robustece la precisión sin alterar la política.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000" b="1">
                <a:solidFill>
                  <a:srgbClr val="A6192E"/>
                </a:solidFill>
              </a:defRPr>
            </a:pPr>
            <a:r>
              <a:t>SUMATIVA 3 · BLOQUE 4 · SEBASTIÁN CAJALES</a:t>
            </a:r>
          </a:p>
        </p:txBody>
      </p:sp>
      <p:sp>
        <p:nvSpPr>
          <p:cNvPr id="3" name="TextBox 2"/>
          <p:cNvSpPr txBox="1"/>
          <p:nvPr/>
        </p:nvSpPr>
        <p:spPr>
          <a:xfrm>
            <a:off x="731520" y="640080"/>
            <a:ext cx="9601200" cy="731520"/>
          </a:xfrm>
          <a:prstGeom prst="rect">
            <a:avLst/>
          </a:prstGeom>
          <a:noFill/>
        </p:spPr>
        <p:txBody>
          <a:bodyPr wrap="square">
            <a:spAutoFit/>
          </a:bodyPr>
          <a:lstStyle/>
          <a:p>
            <a:pPr>
              <a:defRPr sz="2200" b="1">
                <a:solidFill>
                  <a:srgbClr val="1A2C4C"/>
                </a:solidFill>
              </a:defRPr>
            </a:pPr>
            <a:r>
              <a:t>Recomendaciones Estratégicas para la Toma de Decisiones</a:t>
            </a:r>
          </a:p>
        </p:txBody>
      </p:sp>
      <p:pic>
        <p:nvPicPr>
          <p:cNvPr id="4" name="Picture 3" descr="logo_unab.png"/>
          <p:cNvPicPr>
            <a:picLocks noChangeAspect="1"/>
          </p:cNvPicPr>
          <p:nvPr/>
        </p:nvPicPr>
        <p:blipFill>
          <a:blip r:embed="rId2"/>
          <a:stretch>
            <a:fillRect/>
          </a:stretch>
        </p:blipFill>
        <p:spPr>
          <a:xfrm>
            <a:off x="10241280" y="365760"/>
            <a:ext cx="882731" cy="731520"/>
          </a:xfrm>
          <a:prstGeom prst="rect">
            <a:avLst/>
          </a:prstGeom>
        </p:spPr>
      </p:pic>
      <p:sp>
        <p:nvSpPr>
          <p:cNvPr id="5" name="Rounded Rectangle 4"/>
          <p:cNvSpPr/>
          <p:nvPr/>
        </p:nvSpPr>
        <p:spPr>
          <a:xfrm>
            <a:off x="731520" y="1463040"/>
            <a:ext cx="5120640" cy="3840480"/>
          </a:xfrm>
          <a:prstGeom prst="roundRect">
            <a:avLst/>
          </a:prstGeom>
          <a:solidFill>
            <a:srgbClr val="F8F9FB"/>
          </a:solidFill>
          <a:ln w="19050">
            <a:solidFill>
              <a:srgbClr val="1A2C4C"/>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600" b="1">
                <a:solidFill>
                  <a:srgbClr val="1A2C4C"/>
                </a:solidFill>
              </a:defRPr>
            </a:pPr>
            <a:r>
              <a:t>1. Sistemas de Alerta Temprana Diferenciados</a:t>
            </a:r>
          </a:p>
          <a:p>
            <a:pPr>
              <a:defRPr sz="1100" b="1">
                <a:solidFill>
                  <a:srgbClr val="212529"/>
                </a:solidFill>
              </a:defRPr>
            </a:pPr>
            <a:r>
              <a:t>• Focalización Curricular: </a:t>
            </a:r>
            <a:r>
              <a:rPr b="0" sz="1050">
                <a:solidFill>
                  <a:srgbClr val="6C757D"/>
                </a:solidFill>
              </a:rPr>
              <a:t>El riesgo de atraso severo se concentra intensamente en facultades de Tecnología, Ciencias e Ingeniería. Las tutorías de titulación deben priorizarse en estas áreas.</a:t>
            </a:r>
          </a:p>
          <a:p>
            <a:pPr>
              <a:defRPr sz="1100" b="1">
                <a:solidFill>
                  <a:srgbClr val="212529"/>
                </a:solidFill>
              </a:defRPr>
            </a:pPr>
            <a:r>
              <a:t>• Flexibilidad en Jornada Vespertina: </a:t>
            </a:r>
            <a:r>
              <a:rPr b="0" sz="1050">
                <a:solidFill>
                  <a:srgbClr val="6C757D"/>
                </a:solidFill>
              </a:rPr>
              <a:t>La brecha estructural de +9 pp en atraso alto en jornada vespertina exige mecanismos de graduación no presenciales, talleres de tesis en fin de semana y flexibilidad de plazos administrativos.</a:t>
            </a:r>
          </a:p>
        </p:txBody>
      </p:sp>
      <p:sp>
        <p:nvSpPr>
          <p:cNvPr id="6" name="Rounded Rectangle 5"/>
          <p:cNvSpPr/>
          <p:nvPr/>
        </p:nvSpPr>
        <p:spPr>
          <a:xfrm>
            <a:off x="6217920" y="1463040"/>
            <a:ext cx="5120640" cy="3840480"/>
          </a:xfrm>
          <a:prstGeom prst="roundRect">
            <a:avLst/>
          </a:prstGeom>
          <a:solidFill>
            <a:srgbClr val="F8F9FB"/>
          </a:solidFill>
          <a:ln w="19050">
            <a:solidFill>
              <a:srgbClr val="A6192E"/>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600" b="1">
                <a:solidFill>
                  <a:srgbClr val="A6192E"/>
                </a:solidFill>
              </a:defRPr>
            </a:pPr>
            <a:r>
              <a:t>2. Flexibilización en Gratuidad y Acreditación</a:t>
            </a:r>
          </a:p>
          <a:p>
            <a:pPr>
              <a:defRPr sz="1100" b="1">
                <a:solidFill>
                  <a:srgbClr val="212529"/>
                </a:solidFill>
              </a:defRPr>
            </a:pPr>
            <a:r>
              <a:t>• Revisión de Plazos de Cobertura: </a:t>
            </a:r>
            <a:r>
              <a:rPr b="0" sz="1050">
                <a:solidFill>
                  <a:srgbClr val="6C757D"/>
                </a:solidFill>
              </a:rPr>
              <a:t>El atraso superior a 4 semestres es un fenómeno estructural (no un hecho aislado). Los beneficios de gratuidad y becas deben contemplar semestres de gracia ajustados a la tasa real de egreso por carrera.</a:t>
            </a:r>
          </a:p>
          <a:p>
            <a:pPr>
              <a:defRPr sz="1100" b="1">
                <a:solidFill>
                  <a:srgbClr val="212529"/>
                </a:solidFill>
              </a:defRPr>
            </a:pPr>
            <a:r>
              <a:t>• Métricas de Acreditación (CNA): </a:t>
            </a:r>
            <a:r>
              <a:rPr b="0" sz="1050">
                <a:solidFill>
                  <a:srgbClr val="6C757D"/>
                </a:solidFill>
              </a:rPr>
              <a:t>Evaluar la sobre-duración considerando la composición de matrícula (jornada vespertina y áreas STEM) para no penalizar a instituciones con poblaciones de mayor complejidad formativa.</a:t>
            </a:r>
          </a:p>
        </p:txBody>
      </p:sp>
      <p:sp>
        <p:nvSpPr>
          <p:cNvPr id="7" name="TextBox 6"/>
          <p:cNvSpPr txBox="1"/>
          <p:nvPr/>
        </p:nvSpPr>
        <p:spPr>
          <a:xfrm>
            <a:off x="731520" y="5577840"/>
            <a:ext cx="10698480" cy="731520"/>
          </a:xfrm>
          <a:prstGeom prst="rect">
            <a:avLst/>
          </a:prstGeom>
          <a:noFill/>
        </p:spPr>
        <p:txBody>
          <a:bodyPr wrap="none">
            <a:spAutoFit/>
          </a:bodyPr>
          <a:lstStyle/>
          <a:p>
            <a:pPr algn="ctr">
              <a:defRPr sz="1300" b="1">
                <a:solidFill>
                  <a:srgbClr val="1A2C4C"/>
                </a:solidFill>
              </a:defRPr>
            </a:pPr>
            <a:r>
              <a:t>¡Muchas gracias por su atención!  ·  MCDI501 · Grupo 6 (Fernanda Ovalle, César Lorca, Jorge Álvarez, Sebastián Cajales)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